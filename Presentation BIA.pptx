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0"/>
    <p:restoredTop sz="94616"/>
  </p:normalViewPr>
  <p:slideViewPr>
    <p:cSldViewPr snapToGrid="0">
      <p:cViewPr>
        <p:scale>
          <a:sx n="74" d="100"/>
          <a:sy n="74" d="100"/>
        </p:scale>
        <p:origin x="112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10/30/25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3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8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84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0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3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6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1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5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56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1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7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4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ndroidpctv.com/guide-amazon-prime-video-hd-4k-quality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power-bi-components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vigaweb.net/2017/05/microsoft-power-bi-per-trasformare-dati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he-data-experience/building-a-data-pipeline-from-scratch-32b712cfb1d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graph-pie-chart-business-finance-963016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edia.org/exploratory-data-analysis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the-role-of-business-analytics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excelligent.fi/tag/power-bi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graph-pie-chart-business-finance-963016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s-thank-you-message-grateful-1314887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EB1C4-1758-4ACE-9ED5-A1D3EA60E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493" y="1559768"/>
            <a:ext cx="2978281" cy="4012082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bg1"/>
                </a:solidFill>
              </a:rPr>
              <a:t>Amazon Prime Video Dashboard and Content Analytics Using </a:t>
            </a:r>
            <a:br>
              <a:rPr lang="en-IN" sz="3000" b="1" dirty="0">
                <a:solidFill>
                  <a:schemeClr val="bg1"/>
                </a:solidFill>
              </a:rPr>
            </a:br>
            <a:r>
              <a:rPr lang="en-IN" sz="3000" b="1" dirty="0">
                <a:solidFill>
                  <a:schemeClr val="bg1"/>
                </a:solidFill>
              </a:rPr>
              <a:t>Power BI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6B9E2F8-46D1-2983-7C69-81EAF52CC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44"/>
          <a:stretch>
            <a:fillRect/>
          </a:stretch>
        </p:blipFill>
        <p:spPr>
          <a:xfrm>
            <a:off x="5346570" y="1683066"/>
            <a:ext cx="6202238" cy="348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8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lorful circle with text&#10;&#10;AI-generated content may be incorrect.">
            <a:extLst>
              <a:ext uri="{FF2B5EF4-FFF2-40B4-BE49-F238E27FC236}">
                <a16:creationId xmlns:a16="http://schemas.microsoft.com/office/drawing/2014/main" id="{AAF62955-ACE8-70A3-4A79-89C1ED4BEE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7E67CD-6967-E7E3-5DCB-90AEAEA8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IN" b="1" dirty="0"/>
              <a:t>Table of content</a:t>
            </a:r>
            <a:br>
              <a:rPr lang="en-IN" b="1" dirty="0"/>
            </a:b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F528-7791-D6F7-8D1B-19E9282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/>
              <a:t>1. Introduction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2. Workflow of Power BI Project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3. Data Import and Transformation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4. Data Modelling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5. Visualization and Report Building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6. Dashboard and Publishing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7. Insights and Findings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8. Best Practices and Tips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9. Conclusion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/>
              <a:t>10. Appendices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B5403-73E1-D27E-18CF-35101084AD5C}"/>
              </a:ext>
            </a:extLst>
          </p:cNvPr>
          <p:cNvSpPr txBox="1"/>
          <p:nvPr/>
        </p:nvSpPr>
        <p:spPr>
          <a:xfrm>
            <a:off x="9771145" y="6657945"/>
            <a:ext cx="242085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iabac.org/blog/power-bi-compon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524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9BC30C82-FC78-CD39-3B34-F82DAD9EA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091" r="15152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7976E-E742-1ADD-47B3-74AF833E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>
            <a:normAutofit/>
          </a:bodyPr>
          <a:lstStyle/>
          <a:p>
            <a:r>
              <a:rPr lang="en-IN" sz="4400" b="1"/>
              <a:t>Introduction</a:t>
            </a:r>
            <a:endParaRPr lang="en-US" sz="4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66525-0D9A-294C-86D4-6AC98798E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43" y="2538920"/>
            <a:ext cx="4602152" cy="348006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400" b="1"/>
              <a:t>Overview:</a:t>
            </a:r>
            <a:br>
              <a:rPr lang="en-IN" sz="1400"/>
            </a:br>
            <a:r>
              <a:rPr lang="en-IN" sz="1400"/>
              <a:t>This Power BI project analyzes the </a:t>
            </a:r>
            <a:r>
              <a:rPr lang="en-IN" sz="1400" b="1"/>
              <a:t>Amazon Prime Video dataset</a:t>
            </a:r>
            <a:r>
              <a:rPr lang="en-IN" sz="1400"/>
              <a:t> to understand trends in movies and TV shows released from </a:t>
            </a:r>
            <a:r>
              <a:rPr lang="en-IN" sz="1400" b="1"/>
              <a:t>1920 to 2021</a:t>
            </a:r>
            <a:r>
              <a:rPr lang="en-IN" sz="1400"/>
              <a:t>.</a:t>
            </a:r>
            <a:br>
              <a:rPr lang="en-IN" sz="1400"/>
            </a:br>
            <a:r>
              <a:rPr lang="en-IN" sz="1400"/>
              <a:t>The goal is to extract insights about content production patterns, genre popularity, country-wise distribution, and overall growth trends.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400"/>
          </a:p>
          <a:p>
            <a:pPr marL="0" indent="0">
              <a:lnSpc>
                <a:spcPct val="90000"/>
              </a:lnSpc>
              <a:buNone/>
            </a:pPr>
            <a:r>
              <a:rPr lang="en-IN" sz="1400" b="1"/>
              <a:t>Objective:</a:t>
            </a:r>
            <a:br>
              <a:rPr lang="en-IN" sz="1400"/>
            </a:br>
            <a:r>
              <a:rPr lang="en-IN" sz="1400"/>
              <a:t>To build an interactive Power BI dashboard that visualizes:</a:t>
            </a:r>
          </a:p>
          <a:p>
            <a:pPr>
              <a:lnSpc>
                <a:spcPct val="90000"/>
              </a:lnSpc>
            </a:pPr>
            <a:r>
              <a:rPr lang="en-IN" sz="1400"/>
              <a:t>Content count by genre, release year, and country</a:t>
            </a:r>
          </a:p>
          <a:p>
            <a:pPr>
              <a:lnSpc>
                <a:spcPct val="90000"/>
              </a:lnSpc>
            </a:pPr>
            <a:r>
              <a:rPr lang="en-IN" sz="1400"/>
              <a:t>Directors and actors with the highest contributions</a:t>
            </a:r>
          </a:p>
          <a:p>
            <a:pPr>
              <a:lnSpc>
                <a:spcPct val="90000"/>
              </a:lnSpc>
            </a:pPr>
            <a:r>
              <a:rPr lang="en-IN" sz="1400"/>
              <a:t>Movie vs. TV Show distribution</a:t>
            </a:r>
          </a:p>
          <a:p>
            <a:pPr>
              <a:lnSpc>
                <a:spcPct val="90000"/>
              </a:lnSpc>
            </a:pPr>
            <a:r>
              <a:rPr lang="en-IN" sz="1400"/>
              <a:t>Insights into platform evolution over time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07C5FA-BF2C-9EBD-099F-38576FE72AC6}"/>
              </a:ext>
            </a:extLst>
          </p:cNvPr>
          <p:cNvSpPr txBox="1"/>
          <p:nvPr/>
        </p:nvSpPr>
        <p:spPr>
          <a:xfrm>
            <a:off x="9607639" y="6657943"/>
            <a:ext cx="25843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://www.navigaweb.net/2017/05/microsoft-power-bi-per-trasformare-dati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96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D6CD28-D147-4DC0-A5FF-335351C7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DDF69-9963-4CB8-8441-2D6CA2C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199"/>
            <a:ext cx="11281609" cy="2146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B53A5F-63B3-4E86-93F7-275390D7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0453"/>
            <a:ext cx="10954512" cy="181965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99408-D235-8AF1-0D13-D85867F5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794" y="844481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Workflow of Power BI Project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B6F67E-7EA9-AB12-E765-D7997380A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318643"/>
              </p:ext>
            </p:extLst>
          </p:nvPr>
        </p:nvGraphicFramePr>
        <p:xfrm>
          <a:off x="1619794" y="3060562"/>
          <a:ext cx="9274629" cy="334023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79645">
                  <a:extLst>
                    <a:ext uri="{9D8B030D-6E8A-4147-A177-3AD203B41FA5}">
                      <a16:colId xmlns:a16="http://schemas.microsoft.com/office/drawing/2014/main" val="317310495"/>
                    </a:ext>
                  </a:extLst>
                </a:gridCol>
                <a:gridCol w="3164100">
                  <a:extLst>
                    <a:ext uri="{9D8B030D-6E8A-4147-A177-3AD203B41FA5}">
                      <a16:colId xmlns:a16="http://schemas.microsoft.com/office/drawing/2014/main" val="648320720"/>
                    </a:ext>
                  </a:extLst>
                </a:gridCol>
                <a:gridCol w="4130884">
                  <a:extLst>
                    <a:ext uri="{9D8B030D-6E8A-4147-A177-3AD203B41FA5}">
                      <a16:colId xmlns:a16="http://schemas.microsoft.com/office/drawing/2014/main" val="2604307901"/>
                    </a:ext>
                  </a:extLst>
                </a:gridCol>
              </a:tblGrid>
              <a:tr h="477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 marL="162543" marR="97526" marT="97526" marB="975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Stage</a:t>
                      </a:r>
                    </a:p>
                  </a:txBody>
                  <a:tcPr marL="162543" marR="97526" marT="97526" marB="975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marL="162543" marR="97526" marT="97526" marB="975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959983"/>
                  </a:ext>
                </a:extLst>
              </a:tr>
              <a:tr h="5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 Import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Imported dataset </a:t>
                      </a: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</a:rPr>
                        <a:t>amazon_prime_titles.csv</a:t>
                      </a: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from Kaggle into Power BI.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71128"/>
                  </a:ext>
                </a:extLst>
              </a:tr>
              <a:tr h="5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 Transformation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Cleaned and formatted data using Power Query (removed nulls, duplicates, and formatted dates).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02162"/>
                  </a:ext>
                </a:extLst>
              </a:tr>
              <a:tr h="5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Data Modelling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Defined relationships and calculated fields such as content count, year trends, and genre distribution.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905202"/>
                  </a:ext>
                </a:extLst>
              </a:tr>
              <a:tr h="5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Visualization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Designed visuals for genres, years, and directors with KPIs and filters.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306304"/>
                  </a:ext>
                </a:extLst>
              </a:tr>
              <a:tr h="57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Dashboard Publishing</a:t>
                      </a:r>
                      <a:endParaRPr lang="en-IN"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Published the final dashboard to Power BI Service for easy access and sharing.</a:t>
                      </a:r>
                    </a:p>
                  </a:txBody>
                  <a:tcPr marL="162543" marR="84522" marT="84522" marB="845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05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white drawing of various devices&#10;&#10;AI-generated content may be incorrect.">
            <a:extLst>
              <a:ext uri="{FF2B5EF4-FFF2-40B4-BE49-F238E27FC236}">
                <a16:creationId xmlns:a16="http://schemas.microsoft.com/office/drawing/2014/main" id="{9D806425-83E0-08E3-FCD7-483C265532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0F919-A73E-C7AA-B2E6-0B37DFC5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IN" b="1" dirty="0"/>
              <a:t>Data Import and Transformation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E1F7-B970-183F-B76B-03E25ED01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Data Source: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Dataset: </a:t>
            </a:r>
            <a:r>
              <a:rPr lang="en-IN" dirty="0" err="1"/>
              <a:t>amazon_prime_titles.csv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Attributes include: </a:t>
            </a:r>
            <a:r>
              <a:rPr lang="en-IN" dirty="0" err="1"/>
              <a:t>show_id</a:t>
            </a:r>
            <a:r>
              <a:rPr lang="en-IN" dirty="0"/>
              <a:t>, type, title, director, cast, country, </a:t>
            </a:r>
            <a:r>
              <a:rPr lang="en-IN" dirty="0" err="1"/>
              <a:t>release_year</a:t>
            </a:r>
            <a:r>
              <a:rPr lang="en-IN" dirty="0"/>
              <a:t>, rating, duration, </a:t>
            </a:r>
            <a:r>
              <a:rPr lang="en-IN" dirty="0" err="1"/>
              <a:t>listed_in</a:t>
            </a:r>
            <a:r>
              <a:rPr lang="en-IN" dirty="0"/>
              <a:t>, and description.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b="1" dirty="0"/>
              <a:t>Cleaning Steps: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Removed duplicates and empty cells (especially in director and country).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Standardized text fields and formatted </a:t>
            </a:r>
            <a:r>
              <a:rPr lang="en-IN" dirty="0" err="1"/>
              <a:t>release_year</a:t>
            </a:r>
            <a:r>
              <a:rPr lang="en-IN" dirty="0"/>
              <a:t> as date type.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Split multi-valued fields (e.g., genres and actors) for better analysis.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dirty="0"/>
              <a:t>Added calculated columns such as </a:t>
            </a:r>
            <a:r>
              <a:rPr lang="en-IN" i="1" dirty="0" err="1"/>
              <a:t>content_age</a:t>
            </a:r>
            <a:r>
              <a:rPr lang="en-IN" dirty="0"/>
              <a:t> (2021 – </a:t>
            </a:r>
            <a:r>
              <a:rPr lang="en-IN" dirty="0" err="1"/>
              <a:t>release_year</a:t>
            </a:r>
            <a:r>
              <a:rPr lang="en-IN" dirty="0"/>
              <a:t>).</a:t>
            </a:r>
            <a:endParaRPr lang="en-IN"/>
          </a:p>
          <a:p>
            <a:pPr>
              <a:lnSpc>
                <a:spcPct val="90000"/>
              </a:lnSpc>
            </a:pPr>
            <a:r>
              <a:rPr lang="en-IN" b="1" dirty="0"/>
              <a:t>Outcome:</a:t>
            </a:r>
            <a:br>
              <a:rPr lang="en-IN" dirty="0"/>
            </a:br>
            <a:r>
              <a:rPr lang="en-IN" dirty="0"/>
              <a:t>The cleaned dataset was well-structured and optimized for visual analytics.</a:t>
            </a:r>
            <a:endParaRPr lang="en-IN"/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7E854-EC81-0F6A-123E-176C95DC4FBB}"/>
              </a:ext>
            </a:extLst>
          </p:cNvPr>
          <p:cNvSpPr txBox="1"/>
          <p:nvPr/>
        </p:nvSpPr>
        <p:spPr>
          <a:xfrm>
            <a:off x="9900988" y="6657945"/>
            <a:ext cx="229101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medium.com/the-data-experience/building-a-data-pipeline-from-scratch-32b712cfb1d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022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A66977-9B4F-4B2C-AE86-901641B9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Picture 6" descr="A magnifying glass over a pie chart&#10;&#10;AI-generated content may be incorrect.">
            <a:extLst>
              <a:ext uri="{FF2B5EF4-FFF2-40B4-BE49-F238E27FC236}">
                <a16:creationId xmlns:a16="http://schemas.microsoft.com/office/drawing/2014/main" id="{B2C2519F-0797-A742-7CAB-3CC4775007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823" b="107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B9EA3-C3D3-545C-8B9B-7B9AC09F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IN" b="1" dirty="0"/>
              <a:t>Data Modelling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6EAC30-40B0-DDB4-5E4D-E3F71CC456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103120"/>
            <a:ext cx="10058400" cy="38496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relationships between different fields for cross-filtering (e.g., Country ↔ Genre ↔ Year).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Created DAX measures for custom metrics: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 Unicode MS" panose="020B0604020202020204" pitchFamily="34" charset="-128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Total_Titles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= COUNTROWS('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’)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Movies = CALCULATE(COUNTROWS('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'), '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'[type] = "Movie")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TV_Shows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= CALCULATE(COUNTROWS('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'), '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'[type] = "TV Show")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These measures enabled insights into content distribution, production trends, and type breakdowns.</a:t>
            </a:r>
          </a:p>
        </p:txBody>
      </p:sp>
    </p:spTree>
    <p:extLst>
      <p:ext uri="{BB962C8B-B14F-4D97-AF65-F5344CB8AC3E}">
        <p14:creationId xmlns:p14="http://schemas.microsoft.com/office/powerpoint/2010/main" val="3487749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A66977-9B4F-4B2C-AE86-901641B9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1E8F71A-E280-08AF-39A5-08C9942C60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54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BE27A2-1D16-AC23-32D2-A94219A9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IN" b="1" dirty="0"/>
              <a:t>Visualization and Report Building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F42B-0C8F-2707-73A4-9B877C51B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Visual Elements Used:</a:t>
            </a:r>
            <a:endParaRPr lang="en-IN" dirty="0"/>
          </a:p>
          <a:p>
            <a:pPr>
              <a:lnSpc>
                <a:spcPct val="90000"/>
              </a:lnSpc>
            </a:pPr>
            <a:r>
              <a:rPr lang="en-IN" b="1" dirty="0"/>
              <a:t>Bar Chart:</a:t>
            </a:r>
            <a:r>
              <a:rPr lang="en-IN" dirty="0"/>
              <a:t> Number of titles per year</a:t>
            </a:r>
          </a:p>
          <a:p>
            <a:pPr>
              <a:lnSpc>
                <a:spcPct val="90000"/>
              </a:lnSpc>
            </a:pPr>
            <a:r>
              <a:rPr lang="en-IN" b="1" dirty="0"/>
              <a:t>Pie Chart:</a:t>
            </a:r>
            <a:r>
              <a:rPr lang="en-IN" dirty="0"/>
              <a:t> Genre distribution</a:t>
            </a:r>
          </a:p>
          <a:p>
            <a:pPr>
              <a:lnSpc>
                <a:spcPct val="90000"/>
              </a:lnSpc>
            </a:pPr>
            <a:r>
              <a:rPr lang="en-IN" b="1" dirty="0"/>
              <a:t>Map:</a:t>
            </a:r>
            <a:r>
              <a:rPr lang="en-IN" dirty="0"/>
              <a:t> Country-wise content contribution</a:t>
            </a:r>
          </a:p>
          <a:p>
            <a:pPr>
              <a:lnSpc>
                <a:spcPct val="90000"/>
              </a:lnSpc>
            </a:pPr>
            <a:r>
              <a:rPr lang="en-IN" b="1" dirty="0"/>
              <a:t>KPI Cards:</a:t>
            </a:r>
            <a:r>
              <a:rPr lang="en-IN" dirty="0"/>
              <a:t> Total titles, movies, and TV shows</a:t>
            </a:r>
          </a:p>
          <a:p>
            <a:pPr>
              <a:lnSpc>
                <a:spcPct val="90000"/>
              </a:lnSpc>
            </a:pPr>
            <a:r>
              <a:rPr lang="en-IN" b="1" dirty="0"/>
              <a:t>Table:</a:t>
            </a:r>
            <a:r>
              <a:rPr lang="en-IN" dirty="0"/>
              <a:t> Top 10 directors by number of titles</a:t>
            </a:r>
          </a:p>
          <a:p>
            <a:pPr>
              <a:lnSpc>
                <a:spcPct val="90000"/>
              </a:lnSpc>
            </a:pPr>
            <a:r>
              <a:rPr lang="en-IN" b="1" dirty="0"/>
              <a:t>Design Principles:</a:t>
            </a:r>
            <a:endParaRPr lang="en-IN" dirty="0"/>
          </a:p>
          <a:p>
            <a:pPr>
              <a:lnSpc>
                <a:spcPct val="90000"/>
              </a:lnSpc>
            </a:pPr>
            <a:r>
              <a:rPr lang="en-IN" dirty="0"/>
              <a:t>Clean, intuitive visuals with consistent </a:t>
            </a:r>
            <a:r>
              <a:rPr lang="en-IN" dirty="0" err="1"/>
              <a:t>color</a:t>
            </a:r>
            <a:r>
              <a:rPr lang="en-IN" dirty="0"/>
              <a:t> themes</a:t>
            </a:r>
          </a:p>
          <a:p>
            <a:pPr>
              <a:lnSpc>
                <a:spcPct val="90000"/>
              </a:lnSpc>
            </a:pPr>
            <a:r>
              <a:rPr lang="en-IN" dirty="0"/>
              <a:t>Filters for content type, country, and genre</a:t>
            </a:r>
          </a:p>
          <a:p>
            <a:pPr>
              <a:lnSpc>
                <a:spcPct val="90000"/>
              </a:lnSpc>
            </a:pPr>
            <a:r>
              <a:rPr lang="en-IN" dirty="0"/>
              <a:t>Tooltips for extra info (e.g., director names, release year)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IN" sz="1500" dirty="0"/>
            </a:br>
            <a:endParaRPr lang="en-IN" sz="1500" dirty="0"/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3874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47D33-C228-4F3B-5BA0-2660E8A8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20" y="612843"/>
            <a:ext cx="2312480" cy="1499738"/>
          </a:xfrm>
        </p:spPr>
        <p:txBody>
          <a:bodyPr anchor="b">
            <a:normAutofit/>
          </a:bodyPr>
          <a:lstStyle/>
          <a:p>
            <a:r>
              <a:rPr lang="en-IN" sz="2800" b="1" dirty="0"/>
              <a:t>Dashboard and Publishing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2EA762-C918-1A72-6EAD-4C7D2C9FC8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7720" y="2495006"/>
            <a:ext cx="2312479" cy="35090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 final dashboard was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published to Power BI Service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Stakeholders can explore and interact with visuals online.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Data refreshes can be automated when linked to updated datasets.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Enhances collaboration and ensures up-to-date analytics.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ABD41-82D9-DE91-41B7-40AF0F9B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58" y="1176466"/>
            <a:ext cx="8047526" cy="453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44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looking at a presentation&#10;&#10;AI-generated content may be incorrect.">
            <a:extLst>
              <a:ext uri="{FF2B5EF4-FFF2-40B4-BE49-F238E27FC236}">
                <a16:creationId xmlns:a16="http://schemas.microsoft.com/office/drawing/2014/main" id="{53F1817F-1D8A-582B-E267-71C61EE41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242" r="560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24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6167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6AB68-E737-5C13-4A46-311B64AF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846" y="1352277"/>
            <a:ext cx="4633416" cy="86840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Insights and Findings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3D30-0244-0481-A1E7-0E961023B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45" y="2466540"/>
            <a:ext cx="4633415" cy="31896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b="1" dirty="0"/>
              <a:t>Content Growth:</a:t>
            </a:r>
            <a:r>
              <a:rPr lang="en-IN" sz="1400" dirty="0"/>
              <a:t> Rapid increase in titles after 2015 due to streaming expansion.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Top Genres:</a:t>
            </a:r>
            <a:r>
              <a:rPr lang="en-IN" sz="1400" dirty="0"/>
              <a:t> Drama, Comedy, and Documentaries dominate the platform.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Country Insights:</a:t>
            </a:r>
            <a:r>
              <a:rPr lang="en-IN" sz="1400" dirty="0"/>
              <a:t> Majority of content comes from the </a:t>
            </a:r>
            <a:r>
              <a:rPr lang="en-IN" sz="1400" b="1" dirty="0"/>
              <a:t>United States, India, and the UK.</a:t>
            </a:r>
            <a:endParaRPr lang="en-IN" sz="1400" dirty="0"/>
          </a:p>
          <a:p>
            <a:pPr>
              <a:lnSpc>
                <a:spcPct val="90000"/>
              </a:lnSpc>
            </a:pPr>
            <a:r>
              <a:rPr lang="en-IN" sz="1400" b="1" dirty="0"/>
              <a:t>Director Analysis:</a:t>
            </a:r>
            <a:r>
              <a:rPr lang="en-IN" sz="1400" dirty="0"/>
              <a:t> A few directors have multiple titles, indicating strong partnerships.</a:t>
            </a:r>
          </a:p>
          <a:p>
            <a:pPr>
              <a:lnSpc>
                <a:spcPct val="90000"/>
              </a:lnSpc>
            </a:pPr>
            <a:r>
              <a:rPr lang="en-IN" sz="1400" b="1" dirty="0"/>
              <a:t>Movie vs. TV Shows:</a:t>
            </a:r>
            <a:r>
              <a:rPr lang="en-IN" sz="1400" dirty="0"/>
              <a:t> Movies constitute ~70% of the total content.</a:t>
            </a:r>
          </a:p>
          <a:p>
            <a:pPr>
              <a:lnSpc>
                <a:spcPct val="90000"/>
              </a:lnSpc>
            </a:pPr>
            <a:r>
              <a:rPr lang="en-IN" sz="1400" dirty="0"/>
              <a:t>These insights highlight global entertainment trends and Amazon Prime’s content diversity.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282BA-9EC0-0A3F-9709-E48B384F548A}"/>
              </a:ext>
            </a:extLst>
          </p:cNvPr>
          <p:cNvSpPr txBox="1"/>
          <p:nvPr/>
        </p:nvSpPr>
        <p:spPr>
          <a:xfrm>
            <a:off x="9771145" y="6657945"/>
            <a:ext cx="242085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iabac.org/blog/the-role-of-business-an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819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and phone with graphs on screen&#10;&#10;AI-generated content may be incorrect.">
            <a:extLst>
              <a:ext uri="{FF2B5EF4-FFF2-40B4-BE49-F238E27FC236}">
                <a16:creationId xmlns:a16="http://schemas.microsoft.com/office/drawing/2014/main" id="{D62FBC46-637D-9C95-EA49-207D17C1F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4913" b="1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24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6167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94B68-6232-631D-47DD-8C52BCF9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846" y="1352277"/>
            <a:ext cx="4633416" cy="1025163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Best Practices and Tips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93C8-21D5-BC91-DC6E-CBD752F81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45" y="2542170"/>
            <a:ext cx="4633415" cy="288281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dirty="0"/>
              <a:t>Maintain consistency in visuals and </a:t>
            </a:r>
            <a:r>
              <a:rPr lang="en-IN" dirty="0" err="1"/>
              <a:t>color</a:t>
            </a:r>
            <a:r>
              <a:rPr lang="en-IN" dirty="0"/>
              <a:t> themes.</a:t>
            </a:r>
          </a:p>
          <a:p>
            <a:pPr>
              <a:lnSpc>
                <a:spcPct val="90000"/>
              </a:lnSpc>
            </a:pPr>
            <a:r>
              <a:rPr lang="en-IN" dirty="0"/>
              <a:t>Use slicers to enable dynamic filtering.</a:t>
            </a:r>
          </a:p>
          <a:p>
            <a:pPr>
              <a:lnSpc>
                <a:spcPct val="90000"/>
              </a:lnSpc>
            </a:pPr>
            <a:r>
              <a:rPr lang="en-IN" dirty="0"/>
              <a:t>Minimize complex DAX calculations for faster report refresh.</a:t>
            </a:r>
          </a:p>
          <a:p>
            <a:pPr>
              <a:lnSpc>
                <a:spcPct val="90000"/>
              </a:lnSpc>
            </a:pPr>
            <a:r>
              <a:rPr lang="en-IN" dirty="0"/>
              <a:t>Validate dashboard data regularly for accuracy.</a:t>
            </a:r>
          </a:p>
          <a:p>
            <a:pPr>
              <a:lnSpc>
                <a:spcPct val="90000"/>
              </a:lnSpc>
            </a:pPr>
            <a:r>
              <a:rPr lang="en-IN" dirty="0"/>
              <a:t>Include explanatory tooltips and legends for better readability.</a:t>
            </a:r>
            <a:br>
              <a:rPr lang="en-IN" dirty="0"/>
            </a:br>
            <a:endParaRPr lang="en-IN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3DBE7-B1D3-1A91-098C-6E64DFE3D590}"/>
              </a:ext>
            </a:extLst>
          </p:cNvPr>
          <p:cNvSpPr txBox="1"/>
          <p:nvPr/>
        </p:nvSpPr>
        <p:spPr>
          <a:xfrm>
            <a:off x="9607639" y="6657945"/>
            <a:ext cx="258436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hexcelligent.fi/tag/power-b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79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Graph">
            <a:extLst>
              <a:ext uri="{FF2B5EF4-FFF2-40B4-BE49-F238E27FC236}">
                <a16:creationId xmlns:a16="http://schemas.microsoft.com/office/drawing/2014/main" id="{5A1311F7-7907-BFB0-0EF0-6CDCC865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7" r="9091" b="8795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EAA41-56D2-BA48-44D2-893CFB9A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>
            <a:normAutofit/>
          </a:bodyPr>
          <a:lstStyle/>
          <a:p>
            <a:r>
              <a:rPr lang="en-IN" sz="4400" b="1" dirty="0"/>
              <a:t>Conclusion</a:t>
            </a:r>
            <a:endParaRPr lang="en-US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F6DA-D618-F149-9012-591A27E6F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43" y="2538920"/>
            <a:ext cx="4490288" cy="34800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This Power BI dashboard provides a </a:t>
            </a:r>
            <a:r>
              <a:rPr lang="en-IN" b="1" dirty="0"/>
              <a:t>data-driven view of Amazon Prime Video’s content landscape</a:t>
            </a:r>
            <a:r>
              <a:rPr lang="en-IN" dirty="0"/>
              <a:t>.</a:t>
            </a:r>
          </a:p>
          <a:p>
            <a:pPr marL="0" indent="0" algn="just">
              <a:buNone/>
            </a:pPr>
            <a:br>
              <a:rPr lang="en-IN" dirty="0"/>
            </a:br>
            <a:r>
              <a:rPr lang="en-IN" dirty="0"/>
              <a:t>It demonstrates how </a:t>
            </a:r>
            <a:r>
              <a:rPr lang="en-IN" b="1" dirty="0"/>
              <a:t>raw data can be transformed into interactive visual insights</a:t>
            </a:r>
            <a:r>
              <a:rPr lang="en-IN" dirty="0"/>
              <a:t>, helping analysts and media strategists make informed decisions about content trends and audience preferences.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89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23B954-6EA5-B0CA-0990-A72E88944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813" r="-1" b="1074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EDC68-E422-1B7C-BE0D-D1836DCD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1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IN" sz="4000"/>
              <a:t>Appendices</a:t>
            </a:r>
            <a:endParaRPr lang="en-US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AF9182-7D82-9F86-425C-CA67DA66AF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7950" y="2852792"/>
            <a:ext cx="4633415" cy="25721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amazon_prime_titles.csv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Tools: Microsoft Power BI, Power Query, DAX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References: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Power BI Official Documentation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Kaggle Amazon Prime Titles Dataset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Tutorials on Power BI Dashboard Design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249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E9EDDFA-8F05-462B-8D3E-5B9C4FBC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Colorful text on a white background&#10;&#10;AI-generated content may be incorrect.">
            <a:extLst>
              <a:ext uri="{FF2B5EF4-FFF2-40B4-BE49-F238E27FC236}">
                <a16:creationId xmlns:a16="http://schemas.microsoft.com/office/drawing/2014/main" id="{3CCA3C04-374F-DFCA-4915-62AF4CD61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7654" y="1644113"/>
            <a:ext cx="5367165" cy="3582582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43F9A23-3237-4ED6-A1E9-C0E6530E0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3CD46D-4335-4BA4-842A-BF835A99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CC708E0B-F978-2068-BBB0-A942CD31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82" y="1328468"/>
            <a:ext cx="4472922" cy="4706571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IN" sz="2400" dirty="0"/>
              <a:t>DONE BY: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2400" dirty="0" err="1"/>
              <a:t>Hujjathullah</a:t>
            </a:r>
            <a:r>
              <a:rPr lang="en-IN" sz="2400" dirty="0"/>
              <a:t> S T (RA2212704010035)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2400" dirty="0"/>
              <a:t>Sandeep </a:t>
            </a:r>
            <a:r>
              <a:rPr lang="en-IN" sz="2400" dirty="0" err="1"/>
              <a:t>kumar</a:t>
            </a:r>
            <a:r>
              <a:rPr lang="en-IN" sz="2400" dirty="0"/>
              <a:t> (RA2212704010036)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2400" dirty="0"/>
              <a:t>Deepika Elsa Joseph (RA2212704010037) 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2400" dirty="0"/>
              <a:t>Suresh Krishna (RA2212704010038)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2400" dirty="0"/>
              <a:t>Pragati (RA2212704010040)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6501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Century Gothi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898</Words>
  <Application>Microsoft Macintosh PowerPoint</Application>
  <PresentationFormat>Widescreen</PresentationFormat>
  <Paragraphs>111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Unicode MS</vt:lpstr>
      <vt:lpstr>Arial</vt:lpstr>
      <vt:lpstr>Century Gothic</vt:lpstr>
      <vt:lpstr>Courier New</vt:lpstr>
      <vt:lpstr>Garamond</vt:lpstr>
      <vt:lpstr>Gill Sans MT</vt:lpstr>
      <vt:lpstr>SavonVTI</vt:lpstr>
      <vt:lpstr>Amazon Prime Video Dashboard and Content Analytics Using  Power BI</vt:lpstr>
      <vt:lpstr>Table of content </vt:lpstr>
      <vt:lpstr>Introduction</vt:lpstr>
      <vt:lpstr>Workflow of Power BI Project</vt:lpstr>
      <vt:lpstr>Data Import and Transformation</vt:lpstr>
      <vt:lpstr>Data Modelling</vt:lpstr>
      <vt:lpstr>Visualization and Report Building</vt:lpstr>
      <vt:lpstr>Dashboard and Publishing</vt:lpstr>
      <vt:lpstr>Insights and Findings</vt:lpstr>
      <vt:lpstr>Best Practices and Tips</vt:lpstr>
      <vt:lpstr>Conclusion</vt:lpstr>
      <vt:lpstr>Appendices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HUJJATHULLAH S T (RA2212704010035)</dc:creator>
  <cp:lastModifiedBy>HUJJATHULLAH S T (RA2212704010035)</cp:lastModifiedBy>
  <cp:revision>2</cp:revision>
  <dcterms:created xsi:type="dcterms:W3CDTF">2025-10-30T17:55:39Z</dcterms:created>
  <dcterms:modified xsi:type="dcterms:W3CDTF">2025-10-30T18:48:06Z</dcterms:modified>
</cp:coreProperties>
</file>